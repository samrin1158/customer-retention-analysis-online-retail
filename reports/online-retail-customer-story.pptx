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Calibri"/>
              </a:rPr>
              <a:t>Repeat vs. One-Time Customers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4E-4E62-9E8D-B438AD44566B}"/>
              </c:ext>
            </c:extLst>
          </c:dPt>
          <c:dPt>
            <c:idx val="1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4E-4E62-9E8D-B438AD44566B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4E-4E62-9E8D-B438AD44566B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4E-4E62-9E8D-B438AD44566B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Repeat customers</c:v>
                </c:pt>
                <c:pt idx="1">
                  <c:v>One-time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72.39</c:v>
                </c:pt>
                <c:pt idx="1">
                  <c:v>27.61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4E-4E62-9E8D-B438AD445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E276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710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C160B-15F6-A8EF-E0D2-09BD81B3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22167-7126-330B-F4E0-8D8AFB1DF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58294-FBAE-7BC2-CDA5-A7B555B3D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8653E-5538-FFE0-66FB-9E898B3F7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7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2 · DATA STORYTELLING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Customers Who Disappear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Loyalty and Churn in Online Retail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3175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Archee   ·   Adnan Ulde   ·   Samrin Chaudhari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Online Retail  II |   Analysis: Python · Pandas ·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2A35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first glance, loyalty looks healthy.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24306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72.39%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made repeat purchases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9659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40.83%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haven't purchased in over 180 days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deeper, and a more concerning pattern appears.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isn’t simply a story about inactivity 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— </a:t>
            </a:r>
            <a:r>
              <a:rPr lang="en-US" sz="19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about finding valuable customers before potential churn becomes permanent.  </a:t>
            </a:r>
            <a:endParaRPr lang="en-US" sz="1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guided the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may buy repeatedly and then gradually become inactive. Rather than looking only at overall sales, we analysed customers individually using recency, frequency, and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79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679192"/>
            <a:ext cx="38404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have become inactive, and how long have they been away?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79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2679192"/>
            <a:ext cx="38404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are repeat purchases compared with one-time purchases?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70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4370832"/>
            <a:ext cx="38404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high-value customers also becoming inactive?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2062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370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4370832"/>
            <a:ext cx="38404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customer cohort behaviour reveal about retention over time?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transaction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used the UCI Online Retail II dataset, containing transaction-level records from a UK-based online retailer. Each row represents an item within an invoice. After cleaning, the transaction data was transformed into customer-level behavioural features for retention analysis. 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532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InvoiceNo — transaction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35808" y="2651760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2532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 — product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48656" y="2651760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5449824" y="2532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product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18688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— units purchased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35808" y="3218688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 — date &amp;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48656" y="3218688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49824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 — price per unit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785616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666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— customer 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35808" y="3785616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3236976" y="3666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— customer location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48656" y="3785616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/>
          <p:nvPr/>
        </p:nvSpPr>
        <p:spPr>
          <a:xfrm>
            <a:off x="5449824" y="3666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derived at cleaning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100584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dataset we derived: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18288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306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907792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306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unique orders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986784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306B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 Value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historical revenue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5065776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306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5175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Quantity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5541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purchased overall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analytics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3063240"/>
            <a:ext cx="1828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9FB8E8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1828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6227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063240"/>
            <a:ext cx="1828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9FB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28192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&amp;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3063240"/>
            <a:ext cx="1828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6500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2843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55480" y="3063240"/>
            <a:ext cx="1828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9FB8E8"/>
          </a:solidFill>
          <a:ln/>
        </p:spPr>
      </p:sp>
      <p:sp>
        <p:nvSpPr>
          <p:cNvPr id="26" name="Text 24"/>
          <p:cNvSpPr/>
          <p:nvPr/>
        </p:nvSpPr>
        <p:spPr>
          <a:xfrm>
            <a:off x="9848088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11512" y="278892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cleaning and validation, transaction records were aggregated into one record per customer for segmentation, risk and retention analysis</a:t>
            </a:r>
            <a:r>
              <a:rPr lang="en-US" sz="135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9" name="Shape 27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0749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SciPy · Matplotlib · Seaborn · Jupyter Notebook · Git / GitHub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defined the customer segments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9FB8E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24128" y="2697480"/>
            <a:ext cx="1783080" cy="0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880360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single purchase and never returned.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18288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739896" y="2697480"/>
            <a:ext cx="178308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880360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more than one order over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18288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55664" y="2697480"/>
            <a:ext cx="178308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880360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identified as top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contributer’s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historical revenue.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0264" y="18288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9171432" y="210312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71432" y="2697480"/>
            <a:ext cx="178308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2880360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90 days since their last purchase.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note:  </a:t>
            </a: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 inactive → classified "at risk". 180+ days inactive → treated as "highly inactive" for the inactivity analysis.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our customers go?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inactivity becomes substantial after the 90-day threshold, with the largest group having gone 180+ days without a purchase</a:t>
            </a:r>
            <a:r>
              <a:rPr lang="en-IN" sz="1400" dirty="0"/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257316"/>
            <a:ext cx="4775407" cy="1945433"/>
          </a:xfrm>
          <a:prstGeom prst="roundRect">
            <a:avLst>
              <a:gd name="adj" fmla="val 6857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45191" y="3480369"/>
            <a:ext cx="1950098" cy="66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95331" y="3985095"/>
            <a:ext cx="3191069" cy="115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have not purchased in over 180 days — a substantial dormant segment.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BCF7A2-4F20-12EB-1D46-4495E3658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67" y="982410"/>
            <a:ext cx="6481272" cy="5026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A35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purchasing is common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customers return, but more than one in four customers purchased only once</a:t>
            </a:r>
            <a:r>
              <a:rPr lang="en-US" sz="13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IN" sz="13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creates an opportunity to encourage a second purchase.</a:t>
            </a:r>
            <a:endParaRPr lang="en-US" sz="1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4306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72.39%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repeat purchases
</a:t>
            </a:r>
            <a:r>
              <a:rPr lang="en-US" sz="2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27.61% 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only one purchase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segment is a prime target for follow-up communication and personalised recommendations .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92240" y="1005840"/>
          <a:ext cx="484632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91C69-49BE-3986-1786-99776E17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2F022E-2572-829B-7FF1-2E6C8AB30448}"/>
              </a:ext>
            </a:extLst>
          </p:cNvPr>
          <p:cNvSpPr/>
          <p:nvPr/>
        </p:nvSpPr>
        <p:spPr>
          <a:xfrm>
            <a:off x="457200" y="45720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A75F98-E4A0-66CC-05D0-AE974157EFF9}"/>
              </a:ext>
            </a:extLst>
          </p:cNvPr>
          <p:cNvSpPr/>
          <p:nvPr/>
        </p:nvSpPr>
        <p:spPr>
          <a:xfrm>
            <a:off x="457200" y="457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D07A9D-AF44-3934-5766-D7A6434117A8}"/>
              </a:ext>
            </a:extLst>
          </p:cNvPr>
          <p:cNvSpPr/>
          <p:nvPr/>
        </p:nvSpPr>
        <p:spPr>
          <a:xfrm>
            <a:off x="457200" y="794036"/>
            <a:ext cx="2267339" cy="1903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/>
              <a:t>Customer Value vs. Inactivity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2BC100-3C1F-AE8F-F3BF-9F2B0B32A85E}"/>
              </a:ext>
            </a:extLst>
          </p:cNvPr>
          <p:cNvSpPr/>
          <p:nvPr/>
        </p:nvSpPr>
        <p:spPr>
          <a:xfrm>
            <a:off x="564818" y="1408455"/>
            <a:ext cx="2094406" cy="4180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high-value customer doesn't guarantee continued  activity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208 of 1,176 high-value customers (17.69%) were classified as at-risk. These customers are associated with £1.55M in historical revenue.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89EB23-92FF-F807-CD60-57045185B177}"/>
              </a:ext>
            </a:extLst>
          </p:cNvPr>
          <p:cNvSpPr/>
          <p:nvPr/>
        </p:nvSpPr>
        <p:spPr>
          <a:xfrm>
            <a:off x="1051560" y="251460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B2A89B-114F-4853-B102-A8F5A1DFA3B2}"/>
              </a:ext>
            </a:extLst>
          </p:cNvPr>
          <p:cNvSpPr/>
          <p:nvPr/>
        </p:nvSpPr>
        <p:spPr>
          <a:xfrm>
            <a:off x="1051560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(82.31%)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identified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0326A8-11A6-84A4-5A38-D10456679A04}"/>
              </a:ext>
            </a:extLst>
          </p:cNvPr>
          <p:cNvSpPr/>
          <p:nvPr/>
        </p:nvSpPr>
        <p:spPr>
          <a:xfrm>
            <a:off x="4672584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(17.69%) classified as at-risk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004D95-7EA2-DCFB-87E8-FBC651095C08}"/>
              </a:ext>
            </a:extLst>
          </p:cNvPr>
          <p:cNvSpPr/>
          <p:nvPr/>
        </p:nvSpPr>
        <p:spPr>
          <a:xfrm>
            <a:off x="8293608" y="251460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£1,546,445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5BDA53-D142-1C89-FC63-625DA79A329F}"/>
              </a:ext>
            </a:extLst>
          </p:cNvPr>
          <p:cNvSpPr/>
          <p:nvPr/>
        </p:nvSpPr>
        <p:spPr>
          <a:xfrm>
            <a:off x="8293608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revenue tied to at-risk customers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FEAD460-DECD-6381-0809-FE7211FBCFDB}"/>
              </a:ext>
            </a:extLst>
          </p:cNvPr>
          <p:cNvSpPr/>
          <p:nvPr/>
        </p:nvSpPr>
        <p:spPr>
          <a:xfrm>
            <a:off x="914400" y="4937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7528C6D-CD91-3EE6-548A-BB0603D3CA95}"/>
              </a:ext>
            </a:extLst>
          </p:cNvPr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A39B70-9FD9-8595-0F0C-68FCDAE0C959}"/>
              </a:ext>
            </a:extLst>
          </p:cNvPr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C9E039B-5AEC-BF73-1C91-5870548E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917" y="457200"/>
            <a:ext cx="9120917" cy="527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2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customers are disappearing too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3440" y="156819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high-value customer doesn't guarantee continued  activity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208 of 1,176 high-value customers (17.69%) were classified as at-risk. These customers are associated with £1.55M in historical revenue.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364992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1460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(82.31%) Active Share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3984" y="2331720"/>
            <a:ext cx="3364992" cy="2011680"/>
          </a:xfrm>
          <a:prstGeom prst="roundRect">
            <a:avLst>
              <a:gd name="adj" fmla="val 5455"/>
            </a:avLst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672584" y="251460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72584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(17.69%) classified as at-risk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2331720"/>
            <a:ext cx="3364992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08" y="251460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£1,546,445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93608" y="342900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revenue tied to at-risk customers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At-Risk within the high-value segment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5212080" cy="50292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113023" y="4937760"/>
            <a:ext cx="922017" cy="50292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37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82.31% active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72585" y="493776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17.69% at risk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IN" sz="140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"This identifies a high-value group that could be prioritised for retention efforts.“ </a:t>
            </a:r>
            <a:endParaRPr lang="en-US" sz="12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5777" y="1105662"/>
            <a:ext cx="2306955" cy="122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cohorts reveal about retention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72264" y="2328250"/>
            <a:ext cx="2075686" cy="264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customers by the month of their first purchase and tracking them forward shows how retention actually decays over time — a more detailed view than a single repeat-purchase rate.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5146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" y="30709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29718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68880" y="34290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468880" y="38862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86200" y="38862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468880" y="434340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920240" y="5903554"/>
            <a:ext cx="7730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cohorts are retaining slightly better than older ones — an early, encouraging signal worth monitoring monthly.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1A53A99-BEE5-375A-A590-8095E2D6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64261" y="7000875"/>
            <a:ext cx="3481026" cy="21384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2314B3-0FE6-461C-3158-EC99F4ED8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47" y="527548"/>
            <a:ext cx="9169305" cy="51577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retention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high-value at-risk customers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208 high-value at-risk customers should be first in line for retention and win-back campaigns.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win-back campaigns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862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inactive customers using their past purchasing behaviour and product interests.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429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one-time buyers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7307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follow-up communication and tailored recommendations to earn a second purchase.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297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by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inactive customers get high-touch outreach; lower-value ones get automated, lower-cost campaigns.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1663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cohorts continuously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4681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retention by first-purchase cohort to identify changes in customer engagement over time.</a:t>
            </a:r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56362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can't tell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57984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92024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churn label exists — inactivity is used as a proxy, not confirmed churn.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999232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76148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"at risk" threshold is an analytical assumption, not the retailer's own definition.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60273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3840480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60273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revenue reflects past transactions, not guaranteed future loss.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44398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681728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44398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shown are associations, not proven causes.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5522976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52852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Promotions, marketing, and demographics aren't in the data and may explain some behaviour.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Who Disappear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inactive customer is equally important.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recency, frequency and historical revenue , business  can identity valuable customers showing signs of inactivity and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retention where it matters most.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31750">
            <a:solidFill>
              <a:srgbClr val="D64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github.com/Archee10/online-retail-customer-story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Archee  ·  Adnan Ulde  ·  Samrin Chaudhari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1064</Words>
  <Application>Microsoft Office PowerPoint</Application>
  <PresentationFormat>Widescreen</PresentationFormat>
  <Paragraphs>187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Samrin</cp:lastModifiedBy>
  <cp:revision>6</cp:revision>
  <dcterms:created xsi:type="dcterms:W3CDTF">2026-08-28T11:49:33Z</dcterms:created>
  <dcterms:modified xsi:type="dcterms:W3CDTF">2026-08-31T07:27:32Z</dcterms:modified>
</cp:coreProperties>
</file>